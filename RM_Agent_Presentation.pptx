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2331720"/>
            <a:ext cx="4572000" cy="4572000"/>
          </a:xfrm>
          <a:prstGeom prst="ellipse">
            <a:avLst/>
          </a:prstGeom>
          <a:ln w="19050">
            <a:solidFill>
              <a:srgbClr val="2A34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3200400"/>
            <a:ext cx="2834640" cy="2834640"/>
          </a:xfrm>
          <a:prstGeom prst="ellipse">
            <a:avLst/>
          </a:prstGeom>
          <a:ln w="19050">
            <a:solidFill>
              <a:srgbClr val="2A34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3977640"/>
            <a:ext cx="1280160" cy="128016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4389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CORPORATE BANKING  ·  AI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121408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Agent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640080" y="32186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Relationship Intelligence &amp; Copilot Platform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3858768"/>
            <a:ext cx="2377440" cy="0"/>
          </a:xfrm>
          <a:prstGeom prst="line">
            <a:avLst/>
          </a:prstGeom>
          <a:noFill/>
          <a:ln w="28575">
            <a:solidFill>
              <a:srgbClr val="C993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0416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attrition prevention and real-time portfolio intelligence — protecting deposits before they walk out the door.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 &amp; Commercial Banking Partners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 Cost of Reactive Relationship Management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clients rarely announce their departure — they quietly withdraw liquidity until it is too late to react.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414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259451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15468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Churn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3566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clients move deposits incrementally to competitors offering better yield — by the time an RM notices, the capital is already gone.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6552" y="214884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4414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231" y="259451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15468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Silos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9160" y="3566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ledgers, wire processors, and CRM notes live in disconnected systems, with no single view of relationship health.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84464" y="214884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77072" y="24414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143" y="259451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77072" y="315468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Overload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77072" y="3566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RM managing 150+ corporate accounts cannot manually review daily transactional changes across an entire portfolio.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516636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Impact: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2148840" y="516636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in lost low-cost deposits, forfeited treasury fees, and missed lending cross-sells — every single quarter.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Agent: Two AI Agents, One Real-Time Signal Pipeline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 continuously watches every relationship signal that matters, and turns raw data into decisions an RM can act on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23160"/>
            <a:ext cx="658368" cy="65836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2600919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41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 Briefing Agent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807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· 8:00 AM daily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C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prioritized executive briefing each morning — highlighting at-risk relationships, quantified deposit exposure, and a tactical battle plan for the day ahead.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0216" y="205740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665976" y="2423160"/>
            <a:ext cx="658368" cy="65836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735" y="2600919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88936" y="2441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Copilot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488936" y="2807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· Conversational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665976" y="33832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C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AI banking assistant that generates instant pre-meeting briefs, account diagnostics, and growth recommendations — right before a client call.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5431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5584607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52578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Value:  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Relationship Managers from reactive fire-fighters into proactive, trusted advisors.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Banking Data to a Banker’s Next Best Action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four-stage intelligence loop — running every day, on every account, without manual effort.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95728" y="2368296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516" y="2504084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3319272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6D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watch ledgers, wire flows, CRM activity, and CD maturities across the full portfolio.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366674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19856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75888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266944" y="2368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732" y="2504084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75888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675888" y="3319272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account against four risk signals and flag meaningful, statistically significant shifts.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666744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91072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20" name="Text 14"/>
          <p:cNvSpPr/>
          <p:nvPr/>
        </p:nvSpPr>
        <p:spPr>
          <a:xfrm>
            <a:off x="6547104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8138160" y="2368296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948" y="2504084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47104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547104" y="3319272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6D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agents translate anomalies into a clear diagnosis and a concrete banking recommendation.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08" y="3666744"/>
            <a:ext cx="256032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62288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418320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0"/>
          <p:cNvSpPr/>
          <p:nvPr/>
        </p:nvSpPr>
        <p:spPr>
          <a:xfrm>
            <a:off x="11009376" y="2368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5164" y="2504084"/>
            <a:ext cx="231343" cy="23134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18320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9418320" y="3319272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receive the brief in their morning digest, or pull it on demand through the Copilot before a call.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Enterprise-Grade, Event-Driven Streaming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take a raw database change and turn it into a delivered recommendation — most of it in well under a second.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" y="2404872"/>
            <a:ext cx="603504" cy="603504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810" y="256781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31546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Banking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" y="37947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Ledgers · Wires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CD Accounts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36" y="355701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24328" y="214884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19272" y="2404872"/>
            <a:ext cx="603504" cy="603504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218" y="2567818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34056" y="31546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734056" y="37947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Polling →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 →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Processor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3557016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45736" y="214884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440680" y="2404872"/>
            <a:ext cx="603504" cy="603504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626" y="2567818"/>
            <a:ext cx="277612" cy="2776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55464" y="31546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Engine &amp;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55464" y="37947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Scoring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 Agent + LLM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3557016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867144" y="214884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562088" y="2404872"/>
            <a:ext cx="603504" cy="603504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5034" y="2567818"/>
            <a:ext cx="277612" cy="2776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76872" y="31546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976872" y="37947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9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3960" y="3557016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988552" y="214884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683496" y="2404872"/>
            <a:ext cx="603504" cy="603504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442" y="2567818"/>
            <a:ext cx="277612" cy="2776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098280" y="31546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9098280" y="37947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Briefing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Copilot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548640" y="5486400"/>
            <a:ext cx="384048" cy="384048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333" y="5590093"/>
            <a:ext cx="176662" cy="17666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051560" y="54315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metric updates via CDC + in-memory cache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4416552" y="5486400"/>
            <a:ext cx="384048" cy="384048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0245" y="5590093"/>
            <a:ext cx="176662" cy="17666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919472" y="54315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validated AI output — no hallucinated fields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8284464" y="5486400"/>
            <a:ext cx="384048" cy="384048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8157" y="5590093"/>
            <a:ext cx="176662" cy="17666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787384" y="54315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from SQL query to LLM token</a:t>
            </a:r>
            <a:endParaRPr lang="en-US" sz="1050" dirty="0"/>
          </a:p>
        </p:txBody>
      </p:sp>
      <p:sp>
        <p:nvSpPr>
          <p:cNvPr id="43" name="Text 2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4" name="Text 3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B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Signals That Predict Deposit Attrition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arbitrary rule cutoffs. Each signal is grounded in a real commercial-banking behavior and a defensible statistical basis.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2768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66" y="2405238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8176" y="2276856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Deposit Balance Trajectory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926080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60/90-day balance trend &amp; volatility vs. the account’s own history.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" y="333756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sign that liquidity is quietly leaving for a competitor.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0216" y="20574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22768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342" y="2405238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9752" y="2276856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Wire &amp; ACH Velocity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2926080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change in outgoing/incoming wire and ACH payment volume.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537960" y="333756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volume means treasury or payroll has moved to another bank.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04164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6384" y="42611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66" y="4389486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08176" y="4261104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CRM Contact Staleness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86384" y="4910328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elapsed since the last logged RM touchpoint.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86384" y="5321808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days of silence opens the door to competitor outreach.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300216" y="404164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37960" y="42611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342" y="4389486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59752" y="4261104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CD Maturity Proximity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537960" y="4910328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remaining until a certificate of deposit matures.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537960" y="5321808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maturity, principal turns liquid and can roll to a competitor.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6016752"/>
            <a:ext cx="11091672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signals feed directly into an adaptive scoring engine that decides, in real time, which one matters most.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Weighting — Not Static, One-Size-Fits-All Rules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 automatically decides which signal matters most for each portfolio, instead of applying the same fixed formula to every RM book.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68880"/>
            <a:ext cx="566928" cy="56692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1" y="2621951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Idea, in Plain Terms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C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client in a portfolio has been contacted recently, "days since last contact" tells you very little — so the engine gives it less weight.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C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if one client suddenly shows an unusual deposit drop while the rest of the book is stable, that signal stands out statistically — and the engine automatically weights it higher for that RM’s book.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C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powered by an information-theoretic weighting method that scores each signal by how much it actually varies across the active portfolio, then blends all four into one composite risk score from 0 to 1.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2148840"/>
            <a:ext cx="5559552" cy="1170432"/>
          </a:xfrm>
          <a:prstGeom prst="roundRect">
            <a:avLst>
              <a:gd name="adj" fmla="val 546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81928" y="236829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16" y="2504084"/>
            <a:ext cx="231343" cy="23134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81928" y="2368296"/>
            <a:ext cx="502920" cy="50292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49440" y="228600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Removes human bias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949440" y="2624328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manually-tuned thresholds that go stale as portfolios change.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3502152"/>
            <a:ext cx="5559552" cy="1170432"/>
          </a:xfrm>
          <a:prstGeom prst="roundRect">
            <a:avLst>
              <a:gd name="adj" fmla="val 546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81928" y="37216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16" y="3857396"/>
            <a:ext cx="231343" cy="23134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81928" y="3721608"/>
            <a:ext cx="502920" cy="50292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49440" y="3639312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Focuses attention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949440" y="3977640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only the top-risk accounts — the 75th percentile and above.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080760" y="4855464"/>
            <a:ext cx="5559552" cy="1170432"/>
          </a:xfrm>
          <a:prstGeom prst="roundRect">
            <a:avLst>
              <a:gd name="adj" fmla="val 546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81928" y="5074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716" y="5210708"/>
            <a:ext cx="231343" cy="231343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81928" y="5074920"/>
            <a:ext cx="502920" cy="50292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949440" y="4992624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Self-adjusting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949440" y="5330952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Re-weights automatically as each portfolio’s behavior shifts over time.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Anomaly Signals Into Commercial Action Plans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reasons over statistical anomalies and relationship context, then returns a structured, validated recommendation — every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897" y="228709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214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Conclusion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245059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commercial rationale, e.g. "Elevated attrition risk due to payment-rail diversion."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3192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7" y="3457529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291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Tactical Action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362102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banker playbook, e.g. "Schedule CFO treasury call before Oct 15 maturity."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8970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" y="4627961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4622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Opportunity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479145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product recommendations — Liquidity Sweeps, Treasury Management, Working Capital.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57058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Agno agent framework with strict schema enforcement (Pydantic) — so output structure is guaranteed, never freeform text.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46520" y="2103120"/>
            <a:ext cx="5193792" cy="4160520"/>
          </a:xfrm>
          <a:prstGeom prst="roundRect">
            <a:avLst>
              <a:gd name="adj" fmla="val 2198"/>
            </a:avLst>
          </a:prstGeom>
          <a:solidFill>
            <a:srgbClr val="141A45"/>
          </a:solidFill>
          <a:ln/>
        </p:spPr>
      </p:sp>
      <p:sp>
        <p:nvSpPr>
          <p:cNvPr id="19" name="Text 14"/>
          <p:cNvSpPr/>
          <p:nvPr/>
        </p:nvSpPr>
        <p:spPr>
          <a:xfrm>
            <a:off x="6766560" y="235915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766560" y="2697480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"Good morning, Sarah. 2 of your 20 relationships need attention today. $2.4M in deposits are potentially at risk."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66560" y="3611880"/>
            <a:ext cx="4553712" cy="0"/>
          </a:xfrm>
          <a:prstGeom prst="line">
            <a:avLst/>
          </a:prstGeom>
          <a:noFill/>
          <a:ln w="12700">
            <a:solidFill>
              <a:srgbClr val="2A348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0" y="384048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18"/>
          <p:cNvSpPr/>
          <p:nvPr/>
        </p:nvSpPr>
        <p:spPr>
          <a:xfrm>
            <a:off x="6766560" y="38404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863840" y="384048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Logistics — $1.6M exposure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66560" y="434340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26" name="Text 21"/>
          <p:cNvSpPr/>
          <p:nvPr/>
        </p:nvSpPr>
        <p:spPr>
          <a:xfrm>
            <a:off x="6766560" y="43434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863840" y="434340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Foods Group — $0.8M exposure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766560" y="4892040"/>
            <a:ext cx="4553712" cy="0"/>
          </a:xfrm>
          <a:prstGeom prst="line">
            <a:avLst/>
          </a:prstGeom>
          <a:noFill/>
          <a:ln w="12700">
            <a:solidFill>
              <a:srgbClr val="2A348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766560" y="5047488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766560" y="5321808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CFO treasury review before CD matures Oct 14; offer Liquidity Sweep account.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ASSISTANT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Copilot — Banker Intelligence at Your Fingertips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assistant that prepares an RM for any client interaction in seconds, not hours.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0" cy="4160520"/>
          </a:xfrm>
          <a:prstGeom prst="roundRect">
            <a:avLst>
              <a:gd name="adj" fmla="val 263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414016"/>
            <a:ext cx="347472" cy="347472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217" y="2507833"/>
            <a:ext cx="159837" cy="1598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331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Copilot — Pre-Call Brief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281989" y="3017520"/>
            <a:ext cx="3701491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1419149" y="3072384"/>
            <a:ext cx="34271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me for my 2pm with Meridian Logistics.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3712464"/>
            <a:ext cx="3701491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767328"/>
            <a:ext cx="3427171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down 22% over 60 days; wire volume down 18%. Last touchpoint was 51 days ago. Suggest leading with a treasury liquidity review and their upcoming $1.2M CD maturity on Oct 14.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89320" y="2148840"/>
            <a:ext cx="5650992" cy="1143000"/>
          </a:xfrm>
          <a:prstGeom prst="roundRect">
            <a:avLst>
              <a:gd name="adj" fmla="val 5600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08776" y="23682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971" y="2511491"/>
            <a:ext cx="243962" cy="2439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03720" y="2295144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Pre-Call Briefings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903720" y="2633472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briefs generated in seconds ahead of any client meeting.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89320" y="3465576"/>
            <a:ext cx="5650992" cy="1143000"/>
          </a:xfrm>
          <a:prstGeom prst="roundRect">
            <a:avLst>
              <a:gd name="adj" fmla="val 5600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08776" y="368503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971" y="3828227"/>
            <a:ext cx="243962" cy="2439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3611880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Health Snapshots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903720" y="3950208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deposits, loans, and transaction velocity into one clear picture.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89320" y="4782312"/>
            <a:ext cx="5650992" cy="1143000"/>
          </a:xfrm>
          <a:prstGeom prst="roundRect">
            <a:avLst>
              <a:gd name="adj" fmla="val 5600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08776" y="500176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971" y="5144963"/>
            <a:ext cx="243962" cy="2439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03720" y="4928616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Growth Strategies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03720" y="5266944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ideas tailored to each client’s corporate lifecycle stage.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Commercial Banker Speed and Usability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responsive dashboard that gets an RM from login to action in under a minute.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7315200" cy="4160520"/>
          </a:xfrm>
          <a:prstGeom prst="roundRect">
            <a:avLst>
              <a:gd name="adj" fmla="val 2198"/>
            </a:avLst>
          </a:prstGeom>
          <a:solidFill>
            <a:srgbClr val="141A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591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DIGEST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$2.4M in deposits at risk across 2 flagged relationships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291840"/>
            <a:ext cx="667512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353872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387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Logistics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trajectory ↓ 22%  ·  Wire velocity ↓ 18%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261104"/>
            <a:ext cx="667512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50799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5079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4352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Cobalt Foods Group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4672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matures in 12 days  ·  Contact stale 51 days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4261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$0.8M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68680" y="5230368"/>
            <a:ext cx="667512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47725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1E8F5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477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5321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Harborview Manufacturing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5641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deposit dip, within normal range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52303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$0.2M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138160" y="2103120"/>
            <a:ext cx="457200" cy="45720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4" y="2226564"/>
            <a:ext cx="210312" cy="21031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138160" y="2103120"/>
            <a:ext cx="457200" cy="45720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32520" y="2075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Overview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732520" y="2377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total deposits at risk, at a glance.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38160" y="3429000"/>
            <a:ext cx="457200" cy="45720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604" y="3552444"/>
            <a:ext cx="210312" cy="210312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8138160" y="3429000"/>
            <a:ext cx="457200" cy="45720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732520" y="3401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Badges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8732520" y="3703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tags with key signal metrics and action prompts.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138160" y="4754880"/>
            <a:ext cx="457200" cy="45720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604" y="4878324"/>
            <a:ext cx="210312" cy="210312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8138160" y="4754880"/>
            <a:ext cx="457200" cy="457200"/>
          </a:xfrm>
          <a:prstGeom prst="ellipse">
            <a:avLst/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732520" y="4727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Workspace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732520" y="5029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instantly, without leaving the portfolio view.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8138160" y="6126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18, Tailwind CSS, and Lucide icons for instant tab switching between Briefing and Copilot views.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Quantifiable Financial Impact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 pays for itself by protecting deposits already on the balance sheet — before they leave.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141A45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0604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Retention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at-risk commercial deposits proactively retained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9856" y="21488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141A45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260604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45–60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57016" y="3611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Saved / RM / 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416052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reclaimed from manual account prep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91072" y="21488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141A45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60604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28232" y="3611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Income Growth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416052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Treasury Management &amp; cross-sell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62288" y="21488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141A45"/>
          </a:solidFill>
          <a:ln w="12700">
            <a:solidFill>
              <a:srgbClr val="2A34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260604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99448" y="3611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Surprise Churn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45168" y="416052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unexpected client departures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B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Technology Stack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modern, proven, enterprise-ready components.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368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84" y="2504084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Relational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" y="34472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 Serverless) with native CDC capabilities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419856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39312" y="2368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100" y="2504084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&amp; Cache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39312" y="34472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 Topics, Upstash Redis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291072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10528" y="2368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316" y="2504084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Engine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10528" y="34472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NumPy — vectorized Entropy Weight Method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9162288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81744" y="2368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532" y="2504084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81744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Framework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81744" y="34472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 Agent Framework, Groq LLM inference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4279392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68096" y="4498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84" y="4634636"/>
            <a:ext cx="231343" cy="2313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8096" y="513892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Gateway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68096" y="55778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Pydantic v2, JWT authentication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3419856" y="4279392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39312" y="4498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100" y="4634636"/>
            <a:ext cx="231343" cy="231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39312" y="513892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639312" y="55778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OpenTelemetry, OpenInference, Phoenix tracing</a:t>
            </a:r>
            <a:endParaRPr lang="en-US" sz="980" dirty="0"/>
          </a:p>
        </p:txBody>
      </p:sp>
      <p:sp>
        <p:nvSpPr>
          <p:cNvPr id="35" name="Shape 27"/>
          <p:cNvSpPr/>
          <p:nvPr/>
        </p:nvSpPr>
        <p:spPr>
          <a:xfrm>
            <a:off x="6291072" y="4279392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510528" y="4498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316" y="4634636"/>
            <a:ext cx="231343" cy="23134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10528" y="513892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510528" y="55778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Tailwind CSS, Lucide Icons</a:t>
            </a:r>
            <a:endParaRPr lang="en-US" sz="980" dirty="0"/>
          </a:p>
        </p:txBody>
      </p:sp>
      <p:sp>
        <p:nvSpPr>
          <p:cNvPr id="40" name="Text 31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3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377440"/>
            <a:ext cx="4572000" cy="4572000"/>
          </a:xfrm>
          <a:prstGeom prst="ellipse">
            <a:avLst/>
          </a:prstGeom>
          <a:ln w="19050">
            <a:solidFill>
              <a:srgbClr val="2A34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2788920"/>
            <a:ext cx="1188720" cy="11887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274" y="31098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17720" y="2697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RM Agent in Action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663440" y="3611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walk through a live morning briefing, drill into a flagged relationship, and run the RM Copilot on a real pre-call scenario.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57200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4920" y="451713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Briefing Dashboard walkthrough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507492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4920" y="50200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into a flagged, at-risk account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57784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74920" y="55229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Copilot pre-call brief, generated live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B8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ln w="19050">
            <a:solidFill>
              <a:srgbClr val="2A34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ln w="19050">
            <a:solidFill>
              <a:srgbClr val="2A34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05756" y="2880360"/>
            <a:ext cx="2377440" cy="0"/>
          </a:xfrm>
          <a:prstGeom prst="line">
            <a:avLst/>
          </a:prstGeom>
          <a:noFill/>
          <a:ln w="28575">
            <a:solidFill>
              <a:srgbClr val="C99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9718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Agent — Protecting Relationships, Protecting Deposits.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2026-09-11T07:24:43Z</dcterms:created>
  <dcterms:modified xsi:type="dcterms:W3CDTF">2026-09-11T07:24:43Z</dcterms:modified>
</cp:coreProperties>
</file>